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37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BENGKEL OTOMASI · SESI 5 LANJUTAN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72865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Cucumber + Gherkin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Page Object Model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 ± 60 menit  ·  Level: menengah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92728" y="452628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E4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92728" y="4526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· BEHAVIOR-DRIVEN DEVELOPMENT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yang bisa dibaca semua orang, tetap rapi di balik layar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SESI INI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Sesi Ini, Mentee Bisa...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64792"/>
            <a:ext cx="384048" cy="384048"/>
          </a:xfrm>
          <a:prstGeom prst="ellipse">
            <a:avLst/>
          </a:prstGeom>
          <a:solidFill>
            <a:srgbClr val="1E6F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0020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apa itu BDD dan kenapa test case ditulis dalam Gherkin.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384048" cy="384048"/>
          </a:xfrm>
          <a:prstGeom prst="ellipse">
            <a:avLst/>
          </a:prstGeom>
          <a:solidFill>
            <a:srgbClr val="1E6F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244144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file .feature dengan Feature, Background, Scenario, Scenario Outline &amp; tag.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47288"/>
            <a:ext cx="384048" cy="384048"/>
          </a:xfrm>
          <a:prstGeom prst="ellipse">
            <a:avLst/>
          </a:prstGeom>
          <a:solidFill>
            <a:srgbClr val="1E6F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32826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step definition yang menerjemahkan kalimat Gherkin ke kode Java.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88536"/>
            <a:ext cx="384048" cy="384048"/>
          </a:xfrm>
          <a:prstGeom prst="ellipse">
            <a:avLst/>
          </a:prstGeom>
          <a:solidFill>
            <a:srgbClr val="1E6F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288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412394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Menyambungkan step definition ke Page Object — tanpa satu pun locator di step.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129784"/>
            <a:ext cx="384048" cy="384048"/>
          </a:xfrm>
          <a:prstGeom prst="ellipse">
            <a:avLst/>
          </a:prstGeom>
          <a:solidFill>
            <a:srgbClr val="1E6F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5129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496519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Cucumber lewat mvn test, memilih tag, dan membaca laporan HTML.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FBE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DARI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697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BDD &amp; Gherkin?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383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15 menit — test yang bisa dibaca semua orang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KENAPA BDD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yang Hanya Bisa Dibaca Programmer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08676" cy="1965960"/>
          </a:xfrm>
          <a:prstGeom prst="roundRect">
            <a:avLst>
              <a:gd name="adj" fmla="val 3256"/>
            </a:avLst>
          </a:prstGeom>
          <a:solidFill>
            <a:srgbClr val="1821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45920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BIASA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11680"/>
            <a:ext cx="4951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loginPage.buka();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loginPage.login(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"tomsmith"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assertTrue(secure.isTampil());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508760"/>
            <a:ext cx="5408676" cy="1965960"/>
          </a:xfrm>
          <a:prstGeom prst="roundRect">
            <a:avLst>
              <a:gd name="adj" fmla="val 3256"/>
            </a:avLst>
          </a:prstGeom>
          <a:solidFill>
            <a:srgbClr val="1821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7668" y="1645920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87668" y="2011680"/>
            <a:ext cx="49514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berada di halaman login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login dengan username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"tomsmith"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diarahkan ke halaman Secure Area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91672" cy="1737360"/>
          </a:xfrm>
          <a:prstGeom prst="roundRect">
            <a:avLst>
              <a:gd name="adj" fmla="val 3684"/>
            </a:avLst>
          </a:prstGeom>
          <a:solidFill>
            <a:srgbClr val="E4F1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NASKAH DRAMA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7880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.feature adalah NASKAH yang bisa dibaca siapa saja (QA, PM, klien). Step definition adalah SUTRADARA yang menerjemahkan tiap kalimat naskah jadi instruksi. Page Object adalah AKTOR yang benar-benar beraksi di panggung (browser). Penulis naskah tidak perlu tahu cara aktor bergerak.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KENAPA BDD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Semuanya Tersambung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86588" y="1737360"/>
            <a:ext cx="2377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1180" y="188366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login.feature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51180" y="258775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— APA diuji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64028" y="173736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6948" y="1737360"/>
            <a:ext cx="2377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1540" y="188366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LoginSteps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31540" y="258775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penerjemah kalimat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44388" y="173736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47308" y="1737360"/>
            <a:ext cx="2377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1900" y="188366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11900" y="258775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berinteraksi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24748" y="173736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227668" y="1737360"/>
            <a:ext cx="2377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92260" y="1883664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392260" y="258775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sungguhan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916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703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ATURAN YANG TETAP BERLAKU DARI SESI 5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041648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locator di file .feature maupun di step definition — semua terkunci di Page class.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(lulus/gagal) ada di step bagian @Then, BUKAN di Page class.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hanya menambah 'lapisan bahasa manusia' di atas POM yang sudah kamu kenal.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FBE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DARI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697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Menulis Gherkin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383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15 menit — sintaks file .feature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MENULIS GHERKIN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Kata Kunci Gherkin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554480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yang diuji (satu per file)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57984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157984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yang jalan sebelum SETIAP scenario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76148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761488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kasus uji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364992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Outline + Examples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364992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uji sama, diulang dengan data berbeda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68496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68496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/ When / Then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968496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awal / aksi / hasil yang diharapkan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72000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/ But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572000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lanjutan dari langkah sebelumnya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75504"/>
            <a:ext cx="11091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175504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5175504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untuk mengelompokkan &amp; memilih scenario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MENULIS GHERKIN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— FEATURE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5257800"/>
          </a:xfrm>
          <a:prstGeom prst="roundRect">
            <a:avLst>
              <a:gd name="adj" fmla="val 1217"/>
            </a:avLst>
          </a:prstGeom>
          <a:solidFill>
            <a:srgbClr val="18212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1795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src/test/resources/features/login.feature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11091672" cy="0"/>
          </a:xfrm>
          <a:prstGeom prst="line">
            <a:avLst/>
          </a:prstGeom>
          <a:noFill/>
          <a:ln w="12700">
            <a:solidFill>
              <a:srgbClr val="2A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01368"/>
            <a:ext cx="10515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 ke Secure Area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Sebagai pengguna terdaftar, saya ingin bisa login dan logout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berada di halaman login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FB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@smoke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 berhasil dengan kredensial yang valid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login dengan username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"tomsmith"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 password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"SuperSecretPassword!"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diarahkan ke halaman Secure Area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melihat pesan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logged into a secure area!"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FB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@smoke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Logout setelah berhasil login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login dengan username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"tomsmith"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 password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"SuperSecretPassword!"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menekan tombol logout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kembali ke halaman login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MENULIS GHERKIN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Outline: 1 Skenario, Banyak Data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&lt;placeholder&gt; diisi dari tiap baris tabel Examples. Satu baris = satu kasus uji terpisah.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2880360"/>
          </a:xfrm>
          <a:prstGeom prst="roundRect">
            <a:avLst>
              <a:gd name="adj" fmla="val 2222"/>
            </a:avLst>
          </a:prstGeom>
          <a:solidFill>
            <a:srgbClr val="1821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103120"/>
            <a:ext cx="10515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FB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@negative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Outline: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 gagal dengan kredensial yang salah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login dengan username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"&lt;username&gt;"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dan password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"&lt;password&gt;"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tetap berada di halaman login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melihat pesan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"&lt;pesan&gt;"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Examples: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username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  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pesan           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salah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SuperSecretPassword!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Your username is invalid!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tomsmith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passwordSalah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Your password is invalid!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4F1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@DataProvider di Sesi 6 nanti? Ini versi Gherkin-nya: tambah baris di tabel = tambah kasus uji, tanpa menulis kode baru.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2FBE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DARI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697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Definition, Hooks &amp; Runner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383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20 menit — menyambungkan Gherkin ke POM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STEP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— STEPS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5257800"/>
          </a:xfrm>
          <a:prstGeom prst="roundRect">
            <a:avLst>
              <a:gd name="adj" fmla="val 1217"/>
            </a:avLst>
          </a:prstGeom>
          <a:solidFill>
            <a:srgbClr val="18212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1795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steps/LoginSteps.java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11091672" cy="0"/>
          </a:xfrm>
          <a:prstGeom prst="line">
            <a:avLst/>
          </a:prstGeom>
          <a:noFill/>
          <a:ln w="12700">
            <a:solidFill>
              <a:srgbClr val="2A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01368"/>
            <a:ext cx="10515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LoginSteps {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 loginPage;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@Given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"saya berada di halaman login"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sayaBeradaDiHalamanLogin() {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 =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LoginPage(DriverManager.getDriver());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loginPage.buka();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{string} = teks dalam tanda kutip, jadi parameter method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@When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"saya login dengan username {string} dan password {string}"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sayaLoginDengan(String username, String password) {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loginPage.login(username, password);   </a:t>
            </a:r>
            <a:pPr indent="0" marL="0">
              <a:lnSpc>
                <a:spcPct val="130000"/>
              </a:lnSpc>
              <a:buNone/>
            </a:pPr>
            <a:r>
              <a:rPr lang="en-US" sz="108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panggil POM, TANPA locator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@Then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"saya melihat pesan {string}"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08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sayaMelihatPesan(String pesan) {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assertTrue(loginPage.getPesanFlash().contains(pesan));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HOOKS &amp; RUNNER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&amp; DriverManager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8676" cy="2377440"/>
          </a:xfrm>
          <a:prstGeom prst="roundRect">
            <a:avLst>
              <a:gd name="adj" fmla="val 2692"/>
            </a:avLst>
          </a:prstGeom>
          <a:solidFill>
            <a:srgbClr val="E4F1EC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37360"/>
            <a:ext cx="48966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Hooks.java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21408"/>
            <a:ext cx="48966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Petugas panggung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48966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 membuka browser sebelum SETIAP scenario, @After menutupnya. Kalau scenario gagal, screenshot otomatis ditempel ke laporan HTML.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554480"/>
            <a:ext cx="540867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BE0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7668" y="1737360"/>
            <a:ext cx="48966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DriverManager.java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87668" y="2121408"/>
            <a:ext cx="48966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Lemari browser bersama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87668" y="2514600"/>
            <a:ext cx="48966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dan LoginSteps butuh browser yang SAMA. DriverManager menyimpannya (ThreadLocal) supaya bisa diambil dari class mana pun.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1821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436168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sebelumScenario() { DriverManager.bukaBrowser();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sesudahScenario(Scenario scenario)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...screenshot kalau gagal...   lalu:  DriverManager.tutupBrowser();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HOOKS &amp; RUNNER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— RUNNER &amp; TERMINAL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5257800"/>
          </a:xfrm>
          <a:prstGeom prst="roundRect">
            <a:avLst>
              <a:gd name="adj" fmla="val 1217"/>
            </a:avLst>
          </a:prstGeom>
          <a:solidFill>
            <a:srgbClr val="18212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1795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runner/RunCucumberTest.java  +  terminal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11091672" cy="0"/>
          </a:xfrm>
          <a:prstGeom prst="line">
            <a:avLst/>
          </a:prstGeom>
          <a:noFill/>
          <a:ln w="12700">
            <a:solidFill>
              <a:srgbClr val="2A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01368"/>
            <a:ext cx="10515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@RunWith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(Cucumber.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@CucumberOptions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 =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"src/test/resources/features"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     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lokasi .feature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glue     = {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"com.bengkelotomasi.steps"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"com.bengkelotomasi.hooks"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plugin   = {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"pretty"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"html:target/cucumber-report.html"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RunCucumberTest { }  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nama diakhiri "Test" -&gt; ikut mvn test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 di terminal =====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mvn test                                        -&gt; semua scenario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mvn test -Dcucumber.filter.tags="@smoke"        -&gt; hanya @smoke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mvn test -Dcucumber.filter.tags="@negative"     -&gt; hanya @negative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laporan: buka target/cucumber-report.html di browser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HOOKS &amp; RUNNER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7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PROYEK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5257800"/>
          </a:xfrm>
          <a:prstGeom prst="roundRect">
            <a:avLst>
              <a:gd name="adj" fmla="val 1217"/>
            </a:avLst>
          </a:prstGeom>
          <a:solidFill>
            <a:srgbClr val="18212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271016"/>
            <a:ext cx="128016" cy="128016"/>
          </a:xfrm>
          <a:prstGeom prst="ellipse">
            <a:avLst/>
          </a:prstGeom>
          <a:solidFill>
            <a:srgbClr val="3A475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1795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latihan-cucumber-pom/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81912"/>
            <a:ext cx="11091672" cy="0"/>
          </a:xfrm>
          <a:prstGeom prst="line">
            <a:avLst/>
          </a:prstGeom>
          <a:noFill/>
          <a:ln w="12700">
            <a:solidFill>
              <a:srgbClr val="2A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801368"/>
            <a:ext cx="10515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src/main/java/com/bengkelotomasi/pages/ 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 OBJECT (POM)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BasePage.java   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 helper + pesan flash bersama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LoginPage.java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SecureAreaPage.java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src/test/java/com/bengkelotomasi/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driver/DriverManager.java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browser bersama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hooks/Hooks.java         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buka/tutup browser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steps/LoginSteps.java    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DEFINITION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runner/RunCucumberTest.java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tombol start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src/test/resources/features/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login.feature               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C8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CASE dalam GHERKIN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PRAKTIK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Latihan: Tambah Fitur Dropdown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Tantangan: tambah fitur baru TANPA menyentuh file yang sudah 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1821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02996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Memilih opsi dropdown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Memilih opsi dari dropdown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berada di halaman dropdown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saya memilih opsi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 2"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FE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opsi yang terpilih adalah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 2"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91672" cy="2057400"/>
          </a:xfrm>
          <a:prstGeom prst="roundRect">
            <a:avLst>
              <a:gd name="adj" fmla="val 3111"/>
            </a:avLst>
          </a:prstGeom>
          <a:solidFill>
            <a:srgbClr val="E4F1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dropdown.feature di folder features/ (isi seperti di atas).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DropdownPage.java (extend BasePage, @FindBy(id = "dropdown") + class Select dari Sesi 3).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DropdownSteps.java yang hanya memanggil method DropdownPage — tanpa locator.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mvn test. Step yang belum ada? Cucumber memberi potongan kode siap-tempel di console.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PRAKTIK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802575" y="292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MENTOR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Mentor &amp; Kesalahan Umum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08676" cy="4709160"/>
          </a:xfrm>
          <a:prstGeom prst="roundRect">
            <a:avLst>
              <a:gd name="adj" fmla="val 1359"/>
            </a:avLst>
          </a:prstGeom>
          <a:solidFill>
            <a:srgbClr val="E8EEFA"/>
          </a:solidFill>
          <a:ln w="12700">
            <a:solidFill>
              <a:srgbClr val="C3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49514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A5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MENTOR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9661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mentee menulis file .feature DULU sebelum kode apa pun — seolah-olah dia product owner. Baru setelah itu buat step definition-nya.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kalimat Gherkin yang bagus: kalau orang non-teknis bisa membacanya tanpa bertanya, berarti sudah benar. Kalau ada kata 'klik id=...', itu tanda kalimatnya terlalu teknis.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00200"/>
            <a:ext cx="5408676" cy="4709160"/>
          </a:xfrm>
          <a:prstGeom prst="roundRect">
            <a:avLst>
              <a:gd name="adj" fmla="val 1359"/>
            </a:avLst>
          </a:prstGeom>
          <a:solidFill>
            <a:srgbClr val="FBEEE0"/>
          </a:solidFill>
          <a:ln w="12700">
            <a:solidFill>
              <a:srgbClr val="EBC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7668" y="1828800"/>
            <a:ext cx="49514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46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87668" y="2194560"/>
            <a:ext cx="4896612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step: kalimat di .feature beda satu huruf/spasi dari anotasi @Given/@When/@Then.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step: dua step definition cocok dengan kalimat yang sama.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bocor ke step definition — melanggar aturan POM.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Gherkin terlalu teknis ('klik button#submit') — tulis dari sudut pandang pengguna.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package steps/hooks di glue Runner, sehingga step tidak ditemukan.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48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Naskah untuk Manusia, POM untuk Mesin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1874520"/>
            <a:ext cx="9628632" cy="566928"/>
          </a:xfrm>
          <a:prstGeom prst="roundRect">
            <a:avLst>
              <a:gd name="adj" fmla="val 11290"/>
            </a:avLst>
          </a:prstGeom>
          <a:solidFill>
            <a:srgbClr val="1B2A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8745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74520"/>
            <a:ext cx="8915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BDD: test case ditulis dalam Gherkin supaya bisa dibaca &amp; disusun semua orang.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532888"/>
            <a:ext cx="9628632" cy="566928"/>
          </a:xfrm>
          <a:prstGeom prst="roundRect">
            <a:avLst>
              <a:gd name="adj" fmla="val 11290"/>
            </a:avLst>
          </a:prstGeom>
          <a:solidFill>
            <a:srgbClr val="1B2A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253288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532888"/>
            <a:ext cx="8915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Feature, Background, Scenario, Scenario Outline + Examples, Given/When/Then, @tag.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3191256"/>
            <a:ext cx="9628632" cy="566928"/>
          </a:xfrm>
          <a:prstGeom prst="roundRect">
            <a:avLst>
              <a:gd name="adj" fmla="val 11290"/>
            </a:avLst>
          </a:prstGeom>
          <a:solidFill>
            <a:srgbClr val="1B2A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319125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191256"/>
            <a:ext cx="8915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 menerjemahkan kalimat → kode; {string} jadi parameter method.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3849624"/>
            <a:ext cx="9628632" cy="566928"/>
          </a:xfrm>
          <a:prstGeom prst="roundRect">
            <a:avLst>
              <a:gd name="adj" fmla="val 11290"/>
            </a:avLst>
          </a:prstGeom>
          <a:solidFill>
            <a:srgbClr val="1B2A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3040" y="38496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49624"/>
            <a:ext cx="8915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hanya memanggil Page Object — locator tetap terkunci di Page class.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4507992"/>
            <a:ext cx="9628632" cy="566928"/>
          </a:xfrm>
          <a:prstGeom prst="roundRect">
            <a:avLst>
              <a:gd name="adj" fmla="val 11290"/>
            </a:avLst>
          </a:prstGeom>
          <a:solidFill>
            <a:srgbClr val="1B2A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63040" y="45079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507992"/>
            <a:ext cx="8915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buka/tutup browser; Runner + mvn test menjalankan semua &amp; membuat laporan HTML.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5303520"/>
            <a:ext cx="9628632" cy="868680"/>
          </a:xfrm>
          <a:prstGeom prst="roundRect">
            <a:avLst>
              <a:gd name="adj" fmla="val 7368"/>
            </a:avLst>
          </a:prstGeom>
          <a:solidFill>
            <a:srgbClr val="E4F1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508760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PENDAMPING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6967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latihan-cucumber-pom — 5 test case siap jalan dengan mvn test, plus README &amp; tugas fitur dropdown.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2026-10-01T05:46:34Z</dcterms:created>
  <dcterms:modified xsi:type="dcterms:W3CDTF">2026-10-01T05:46:34Z</dcterms:modified>
</cp:coreProperties>
</file>